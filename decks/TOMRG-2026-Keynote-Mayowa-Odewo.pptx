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 b="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Set the tone: this is about saving lives through innovation and collaboration. Acknowledge the conference theme and the urgency of the road safety crisis in Nigeria and Africa.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stark statistic to establish urgency. Road traffic injuries are a leading cause of death globally, and developing nations bear the heaviest burden.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Contextualize the problem locally. These numbers represent real families, real communities, real economic loss. The scale demands urgent action.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conference as a response to a crisis. Emphasize that this is not just a technical problem—it's a human problem requiring multidisciplinary solutions.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down the multifactorial nature of road accidents. Emphasize that no single intervention will solve this—we need to address all layers.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disparity. Developed nations have invested heavily in systems; we must learn from them while adapting to our context.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 psychology is critical. Behaviour change requires education, enforcement, and cultural shift. Technology alone won't solve this.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Technology is an enabler, not a silver bullet. Discuss how AI and IoT can augment human decision-making and enforcement.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 is foundational. Good design prevents accidents before they happen. Discuss cost-benefit: prevention is cheaper than treatment.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 must be evidence-based and consistently enforced. Weak enforcement undermines even the best policies. Discuss the role of traffic police and community engagement.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Behaviour change takes time. Sustained, culturally relevant campaigns are essential. Involve community leaders, religious figures, and influencers.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'golden hour' is critical. Investment in emergency response saves lives. Discuss coordination between police, ambulance services, and hospitals.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examples show what's possible. Emphasize that solutions must be adapted to local context—no one-size-fits-all approach.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African examples to show that solutions are achievable in our context. Celebrate progress while acknowledging gaps.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is transformative but requires careful implementation. Discuss ethical concerns: privacy, bias, accountability. Emphasize human oversight.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barriers. Discuss how to overcome them: partnerships, phased rollout, community engagement, transparent governance.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call to collective action. No single actor can solve this alone. Emphasize the role of each stakeholder.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recommendations for government agencies. Emphasize accountability and measurable outcomes.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conference is an opportunity for researchers to contribute. Emphasize the importance of evidence-based solutions.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 the private sector as partners. Discuss win-win scenarios: business opportunity + social impact.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Empower individuals. Road safety is everyone's responsibility. Emphasize that small actions add up to systemic change.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Paint a picture of what's achievable with coordinated effort. These targets are ambitious but realistic based on global examples.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main points. Reinforce the message that this is achievable with collective action.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91640"/>
            <a:ext cx="10820400" cy="43891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algn="l" defTabSz="914400"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20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2000" b="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 marL="0" algn="l" defTabSz="914400"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05840" y="1828800"/>
            <a:ext cx="10180320" cy="2011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2160"/>
              </a:spcAft>
              <a:buNone/>
            </a:pPr>
            <a:r>
              <a:rPr lang="en-US" sz="5400" b="1" i="0" dirty="0">
                <a:solidFill>
                  <a:srgbClr val="FFFFFF"/>
                </a:solidFill>
                <a:latin typeface="Calibri"/>
                <a:cs typeface="Calibri"/>
              </a:rPr>
              <a:t>Safe Roads, Safe Lives</a:t>
            </a:r>
          </a:p>
        </p:txBody>
      </p:sp>
      <p:sp>
        <p:nvSpPr>
          <p:cNvPr id="4" name="Shape 4"/>
          <p:cNvSpPr/>
          <p:nvPr/>
        </p:nvSpPr>
        <p:spPr>
          <a:xfrm>
            <a:off x="1005840" y="4069080"/>
            <a:ext cx="10972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1005840" y="4343400"/>
            <a:ext cx="1018032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20"/>
              </a:spcAft>
              <a:buNone/>
            </a:pPr>
            <a:r>
              <a:rPr lang="en-US" sz="1800" b="0" i="0" dirty="0">
                <a:solidFill>
                  <a:srgbClr val="DCE4EE"/>
                </a:solidFill>
                <a:latin typeface="Calibri"/>
                <a:cs typeface="Calibri"/>
              </a:rPr>
              <a:t>Innovation in Traffic Management and Accident Prevention</a:t>
            </a:r>
          </a:p>
          <a:p>
            <a:pPr algn="l">
              <a:spcAft>
                <a:spcPts val="720"/>
              </a:spcAft>
              <a:buNone/>
            </a:pPr>
          </a:p>
          <a:p>
            <a:pPr algn="l">
              <a:spcAft>
                <a:spcPts val="720"/>
              </a:spcAft>
              <a:buNone/>
            </a:pPr>
            <a:r>
              <a:rPr lang="en-US" sz="1800" b="0" i="0" dirty="0">
                <a:solidFill>
                  <a:srgbClr val="DCE4EE"/>
                </a:solidFill>
                <a:latin typeface="Calibri"/>
                <a:cs typeface="Calibri"/>
              </a:rPr>
              <a:t>Asst. Corps Commander Mayowa Odewo</a:t>
            </a:r>
          </a:p>
          <a:p>
            <a:pPr algn="l">
              <a:spcAft>
                <a:spcPts val="720"/>
              </a:spcAft>
              <a:buNone/>
            </a:pPr>
            <a:r>
              <a:rPr lang="en-US" sz="1800" b="0" i="0" dirty="0">
                <a:solidFill>
                  <a:srgbClr val="DCE4EE"/>
                </a:solidFill>
                <a:latin typeface="Calibri"/>
                <a:cs typeface="Calibri"/>
              </a:rPr>
              <a:t>TOMRG 2026 | LAUTECH | 25–26 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1371600" y="1691640"/>
            <a:ext cx="9448800" cy="3291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1440"/>
              </a:spcAft>
              <a:buNone/>
            </a:pPr>
            <a:r>
              <a:rPr lang="en-US" sz="3600" b="0" i="1" dirty="0">
                <a:solidFill>
                  <a:srgbClr val="1A3A52"/>
                </a:solidFill>
                <a:latin typeface="Calibri"/>
                <a:cs typeface="Calibri"/>
              </a:rPr>
              <a:t>“Every day, 3,700 people die on the world's roads. In Africa, the burden is disproportionately high.”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371600" y="5120640"/>
            <a:ext cx="9448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en-US" sz="2000" b="0" i="0" dirty="0">
                <a:solidFill>
                  <a:srgbClr val="5B6B7A"/>
                </a:solidFill>
                <a:latin typeface="Calibri"/>
                <a:cs typeface="Calibri"/>
              </a:rPr>
              <a:t>— World Health Organization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The Crisis in Numbers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2286000"/>
            <a:ext cx="3332480" cy="12801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2400"/>
              </a:spcAft>
              <a:buNone/>
            </a:pPr>
            <a:r>
              <a:rPr lang="en-US" sz="6000" b="1" i="0" dirty="0">
                <a:solidFill>
                  <a:srgbClr val="E74C3C"/>
                </a:solidFill>
                <a:latin typeface="Calibri"/>
                <a:cs typeface="Calibri"/>
              </a:rPr>
              <a:t>35,000+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3703320"/>
            <a:ext cx="333248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2000" b="0" i="0" dirty="0">
                <a:solidFill>
                  <a:srgbClr val="1E2933"/>
                </a:solidFill>
                <a:latin typeface="Calibri"/>
                <a:cs typeface="Calibri"/>
              </a:rPr>
              <a:t>Annual road deaths in Nigeria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4292600" y="2286000"/>
            <a:ext cx="3332480" cy="12801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2400"/>
              </a:spcAft>
              <a:buNone/>
            </a:pPr>
            <a:r>
              <a:rPr lang="en-US" sz="6000" b="1" i="0" dirty="0">
                <a:solidFill>
                  <a:srgbClr val="E74C3C"/>
                </a:solidFill>
                <a:latin typeface="Calibri"/>
                <a:cs typeface="Calibri"/>
              </a:rPr>
              <a:t>1 in 3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4292600" y="3703320"/>
            <a:ext cx="333248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2000" b="0" i="0" dirty="0">
                <a:solidFill>
                  <a:srgbClr val="1E2933"/>
                </a:solidFill>
                <a:latin typeface="Calibri"/>
                <a:cs typeface="Calibri"/>
              </a:rPr>
              <a:t>Deaths are preventable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899400" y="2286000"/>
            <a:ext cx="3332480" cy="12801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600"/>
              </a:spcAft>
              <a:buNone/>
            </a:pPr>
            <a:r>
              <a:rPr lang="en-US" sz="4000" b="1" i="0" dirty="0">
                <a:solidFill>
                  <a:srgbClr val="E74C3C"/>
                </a:solidFill>
                <a:latin typeface="Calibri"/>
                <a:cs typeface="Calibri"/>
              </a:rPr>
              <a:t>₦5.3 Trillion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899400" y="3703320"/>
            <a:ext cx="333248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2000" b="0" i="0" dirty="0">
                <a:solidFill>
                  <a:srgbClr val="1E2933"/>
                </a:solidFill>
                <a:latin typeface="Calibri"/>
                <a:cs typeface="Calibri"/>
              </a:rPr>
              <a:t>Annual economic cost to Nigeria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Why We're Here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Road traffic accidents are a </a:t>
            </a: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public health emergency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They disproportionately affect young people and low-income communities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Most accidents are </a:t>
            </a: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preventable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 with the right systems, policies, and innovation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We need </a:t>
            </a: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integrated solutions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: technology, behaviour change, infrastructure, enforcement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371600" y="1828800"/>
            <a:ext cx="9814560" cy="2011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1760"/>
              </a:spcAft>
              <a:buNone/>
            </a:pPr>
            <a:r>
              <a:rPr lang="en-US" sz="4400" b="1" i="0" dirty="0">
                <a:solidFill>
                  <a:srgbClr val="FFFFFF"/>
                </a:solidFill>
                <a:latin typeface="Calibri"/>
                <a:cs typeface="Calibri"/>
              </a:rPr>
              <a:t>The Problem: Understanding Road Accidents</a:t>
            </a:r>
          </a:p>
        </p:txBody>
      </p:sp>
      <p:sp>
        <p:nvSpPr>
          <p:cNvPr id="4" name="Shape 4"/>
          <p:cNvSpPr/>
          <p:nvPr/>
        </p:nvSpPr>
        <p:spPr>
          <a:xfrm>
            <a:off x="5547360" y="4069080"/>
            <a:ext cx="10972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Root Causes of Road Traffic Accidents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Human factors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Speeding, impaired driving, fatigue, distraction (70–90% of accidents)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Vehicle defects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Poor maintenance, faulty brakes, worn tyres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Infrastructure gaps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Poor road design, inadequate signage, lack of street lighting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Enforcement gaps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Inconsistent traffic law enforcement, weak penalties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Systemic issues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Inadequate emergency response, poor post-crash care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Developed vs. Developing Nations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518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E74C3C"/>
                </a:solidFill>
                <a:latin typeface="Calibri"/>
                <a:cs typeface="Calibri"/>
              </a:rPr>
              <a:t>High-Income Countries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2240280"/>
            <a:ext cx="5181600" cy="3840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720"/>
              </a:spcAft>
              <a:buClr>
                <a:srgbClr val="E8821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E2933"/>
                </a:solidFill>
                <a:latin typeface="Calibri"/>
                <a:cs typeface="Calibri"/>
              </a:rPr>
              <a:t>Lower fatality rates (5–10 per 100k)</a:t>
            </a:r>
          </a:p>
          <a:p>
            <a:pPr algn="l" marL="342900" indent="-342900">
              <a:spcAft>
                <a:spcPts val="720"/>
              </a:spcAft>
              <a:buClr>
                <a:srgbClr val="E8821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E2933"/>
                </a:solidFill>
                <a:latin typeface="Calibri"/>
                <a:cs typeface="Calibri"/>
              </a:rPr>
              <a:t>Strong enforcement &amp; penalties</a:t>
            </a:r>
          </a:p>
          <a:p>
            <a:pPr algn="l" marL="342900" indent="-342900">
              <a:spcAft>
                <a:spcPts val="720"/>
              </a:spcAft>
              <a:buClr>
                <a:srgbClr val="E8821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E2933"/>
                </a:solidFill>
                <a:latin typeface="Calibri"/>
                <a:cs typeface="Calibri"/>
              </a:rPr>
              <a:t>Modern vehicle safety standards</a:t>
            </a:r>
          </a:p>
          <a:p>
            <a:pPr algn="l" marL="342900" indent="-342900">
              <a:spcAft>
                <a:spcPts val="720"/>
              </a:spcAft>
              <a:buClr>
                <a:srgbClr val="E8821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E2933"/>
                </a:solidFill>
                <a:latin typeface="Calibri"/>
                <a:cs typeface="Calibri"/>
              </a:rPr>
              <a:t>Rapid emergency response systems</a:t>
            </a:r>
          </a:p>
          <a:p>
            <a:pPr algn="l" marL="342900" indent="-342900">
              <a:spcAft>
                <a:spcPts val="720"/>
              </a:spcAft>
              <a:buClr>
                <a:srgbClr val="E8821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E2933"/>
                </a:solidFill>
                <a:latin typeface="Calibri"/>
                <a:cs typeface="Calibri"/>
              </a:rPr>
              <a:t>Integrated data &amp; monitoring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324600" y="1691640"/>
            <a:ext cx="518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E74C3C"/>
                </a:solidFill>
                <a:latin typeface="Calibri"/>
                <a:cs typeface="Calibri"/>
              </a:rPr>
              <a:t>Developing Nations (Africa)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324600" y="2240280"/>
            <a:ext cx="5181600" cy="3840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720"/>
              </a:spcAft>
              <a:buClr>
                <a:srgbClr val="E8821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E2933"/>
                </a:solidFill>
                <a:latin typeface="Calibri"/>
                <a:cs typeface="Calibri"/>
              </a:rPr>
              <a:t>Higher fatality rates (20–30+ per 100k)</a:t>
            </a:r>
          </a:p>
          <a:p>
            <a:pPr algn="l" marL="342900" indent="-342900">
              <a:spcAft>
                <a:spcPts val="720"/>
              </a:spcAft>
              <a:buClr>
                <a:srgbClr val="E8821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E2933"/>
                </a:solidFill>
                <a:latin typeface="Calibri"/>
                <a:cs typeface="Calibri"/>
              </a:rPr>
              <a:t>Weak enforcement infrastructure</a:t>
            </a:r>
          </a:p>
          <a:p>
            <a:pPr algn="l" marL="342900" indent="-342900">
              <a:spcAft>
                <a:spcPts val="720"/>
              </a:spcAft>
              <a:buClr>
                <a:srgbClr val="E8821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E2933"/>
                </a:solidFill>
                <a:latin typeface="Calibri"/>
                <a:cs typeface="Calibri"/>
              </a:rPr>
              <a:t>Mixed vehicle safety standards</a:t>
            </a:r>
          </a:p>
          <a:p>
            <a:pPr algn="l" marL="342900" indent="-342900">
              <a:spcAft>
                <a:spcPts val="720"/>
              </a:spcAft>
              <a:buClr>
                <a:srgbClr val="E8821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E2933"/>
                </a:solidFill>
                <a:latin typeface="Calibri"/>
                <a:cs typeface="Calibri"/>
              </a:rPr>
              <a:t>Delayed emergency response</a:t>
            </a:r>
          </a:p>
          <a:p>
            <a:pPr algn="l" marL="342900" indent="-342900">
              <a:spcAft>
                <a:spcPts val="720"/>
              </a:spcAft>
              <a:buClr>
                <a:srgbClr val="E8821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E2933"/>
                </a:solidFill>
                <a:latin typeface="Calibri"/>
                <a:cs typeface="Calibri"/>
              </a:rPr>
              <a:t>Limited data collection &amp; analysis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The Human Factor: Driver Behaviour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Speeding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 remains the #1 cause of fatal accidents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Impaired driving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 (alcohol, drugs, fatigue) significantly increases crash risk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Distraction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 (mobile phones, passengers) reduces reaction time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Lack of seatbelt use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 increases injury severity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Overconfidence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 and risk-taking behaviour, especially in young drivers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371600" y="1828800"/>
            <a:ext cx="9814560" cy="2011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1760"/>
              </a:spcAft>
              <a:buNone/>
            </a:pPr>
            <a:r>
              <a:rPr lang="en-US" sz="4400" b="1" i="0" dirty="0">
                <a:solidFill>
                  <a:srgbClr val="FFFFFF"/>
                </a:solidFill>
                <a:latin typeface="Calibri"/>
                <a:cs typeface="Calibri"/>
              </a:rPr>
              <a:t>Innovation &amp; Solutions</a:t>
            </a:r>
          </a:p>
        </p:txBody>
      </p:sp>
      <p:sp>
        <p:nvSpPr>
          <p:cNvPr id="4" name="Shape 4"/>
          <p:cNvSpPr/>
          <p:nvPr/>
        </p:nvSpPr>
        <p:spPr>
          <a:xfrm>
            <a:off x="5547360" y="4069080"/>
            <a:ext cx="10972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Technology for Safer Roads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AI &amp; Computer Vision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Real-time traffic monitoring, accident detection, congestion prediction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IoT Sensors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Road condition monitoring, weather-triggered alerts, pothole detection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Connected Vehicles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V2V (vehicle-to-vehicle) communication, automatic emergency braking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Mobile Apps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Real-time hazard reporting, route optimization, driver behaviour tracking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Data Analytics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Predictive modelling of accident-prone zones, resource allocation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Infrastructure &amp; Road Design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Safer road geometry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: Roundabouts, traffic calming measures, separated lanes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Improved signage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: Clear, standardized, visible signage (day &amp; night)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Street lighting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: Reduces night-time accidents by 30–40%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Pedestrian infrastructure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: Dedicated crossings, footpaths, barriers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Maintenance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: Regular inspections, rapid pothole repair, surface quality control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Policy &amp; Enforcement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Strict speed limits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 in high-risk zones (schools, residential areas)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Mandatory vehicle inspections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 and maintenance standards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Graduated licensing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 for young drivers (restrictions on night driving, passengers)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Impaired driving laws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 with consistent enforcement and penalties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Seatbelt &amp; helmet mandates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 with high compliance rates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Public Awareness &amp; Education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School-based programmes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Road safety education from primary school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Driver training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Defensive driving courses, hazard perception training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Community campaigns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Targeted messaging (speeding, seatbelts, impaired driving)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Workplace initiatives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Fleet safety programmes, driver wellness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Media engagement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Social media, radio, TV campaigns with local influencers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Emergency Response &amp; Post-Crash Care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Rapid response systems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Ambulances, trained paramedics, clear protocols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Trauma centres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Equipped with modern facilities and trained staff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Data collection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Every accident logged, analysed for patterns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Victim support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Rehabilitation, counselling, financial assistance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Learning from crashes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Root cause analysis to prevent recurrence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371600" y="1828800"/>
            <a:ext cx="9814560" cy="2011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1760"/>
              </a:spcAft>
              <a:buNone/>
            </a:pPr>
            <a:r>
              <a:rPr lang="en-US" sz="4400" b="1" i="0" dirty="0">
                <a:solidFill>
                  <a:srgbClr val="FFFFFF"/>
                </a:solidFill>
                <a:latin typeface="Calibri"/>
                <a:cs typeface="Calibri"/>
              </a:rPr>
              <a:t>Case Studies &amp; Best Practices</a:t>
            </a:r>
          </a:p>
        </p:txBody>
      </p:sp>
      <p:sp>
        <p:nvSpPr>
          <p:cNvPr id="4" name="Shape 4"/>
          <p:cNvSpPr/>
          <p:nvPr/>
        </p:nvSpPr>
        <p:spPr>
          <a:xfrm>
            <a:off x="5547360" y="4069080"/>
            <a:ext cx="10972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Global Best Practices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Sweden's Vision Zero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Zero tolerance for fatal accidents; integrated approach; result: 3 deaths per 100k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Brazil's Seatbelt Campaign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Mandatory use + enforcement; 40% reduction in deaths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India's Road Safety Programme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AI-powered traffic management in major cities; 25% reduction in congestion-related accidents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Kenya's Driver Training Standards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Rigorous licensing; improved driver competence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Singapore's Smart Traffic System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Real-time monitoring, dynamic routing, predictive enforcement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African Success Stories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South Africa's Arrive Alive Campaign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: Sustained public awareness; measurable behaviour change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Rwanda's Traffic Police Reform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: Community policing, transparent enforcement, reduced corruption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Ghana's Road Safety Strategy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: Multi-stakeholder coordination, data-driven interventions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Nigeria's FRSC Initiatives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: Spot checks, public education, emergency response improvements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371600" y="1828800"/>
            <a:ext cx="9814560" cy="2011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1760"/>
              </a:spcAft>
              <a:buNone/>
            </a:pPr>
            <a:r>
              <a:rPr lang="en-US" sz="4400" b="1" i="0" dirty="0">
                <a:solidFill>
                  <a:srgbClr val="FFFFFF"/>
                </a:solidFill>
                <a:latin typeface="Calibri"/>
                <a:cs typeface="Calibri"/>
              </a:rPr>
              <a:t>The Role of Innovation &amp; AI</a:t>
            </a:r>
          </a:p>
        </p:txBody>
      </p:sp>
      <p:sp>
        <p:nvSpPr>
          <p:cNvPr id="4" name="Shape 4"/>
          <p:cNvSpPr/>
          <p:nvPr/>
        </p:nvSpPr>
        <p:spPr>
          <a:xfrm>
            <a:off x="5547360" y="4069080"/>
            <a:ext cx="10972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Artificial Intelligence in Road Safety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Predictive Analytics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Identify high-risk locations, times, and driver profiles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Real-time Monitoring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AI cameras detect speeding, red-light running, lane violations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Autonomous Vehicles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Eliminate human error (future); require robust testing &amp; regulation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Driver Assistance Systems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Automatic braking, lane-keeping, collision avoidance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Data Integration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Combine traffic, weather, accident, and vehicle data for holistic insights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Challenges in AI Implementation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Data quality &amp; availability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Incomplete accident records, inconsistent reporting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Infrastructure gaps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Limited connectivity in rural areas, power reliability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Cost &amp; affordability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High upfront investment; need for financing mechanisms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Regulatory framework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Need clear guidelines for AI use in enforcement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Public trust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Concerns about surveillance, fairness, and misuse of data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371600" y="1828800"/>
            <a:ext cx="9814560" cy="2011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1760"/>
              </a:spcAft>
              <a:buNone/>
            </a:pPr>
            <a:r>
              <a:rPr lang="en-US" sz="4400" b="1" i="0" dirty="0">
                <a:solidFill>
                  <a:srgbClr val="FFFFFF"/>
                </a:solidFill>
                <a:latin typeface="Calibri"/>
                <a:cs typeface="Calibri"/>
              </a:rPr>
              <a:t>A Call to Action</a:t>
            </a:r>
          </a:p>
        </p:txBody>
      </p:sp>
      <p:sp>
        <p:nvSpPr>
          <p:cNvPr id="4" name="Shape 4"/>
          <p:cNvSpPr/>
          <p:nvPr/>
        </p:nvSpPr>
        <p:spPr>
          <a:xfrm>
            <a:off x="5547360" y="4069080"/>
            <a:ext cx="10972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What We Must Do Now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Strengthen enforcement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Consistent, fair application of traffic laws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Invest in infrastructure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Safe roads, lighting, signage, emergency response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Embrace technology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Pilot AI and IoT solutions; learn from successes and failures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Change behaviour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Sustained public education and community engagement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Coordinate across sectors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Police, health, transport, education, private sector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For Traffic &amp; Transport Authorities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Adopt </a:t>
            </a: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data-driven decision-making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Use analytics to allocate resources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Implement </a:t>
            </a: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Vision Zero principles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Set ambitious targets, measure progress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Invest in </a:t>
            </a: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staff training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Modern enforcement techniques, customer service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Engage </a:t>
            </a: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communities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Transparency, accountability, feedback mechanisms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Partner with </a:t>
            </a: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technology providers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Pilot innovative solutions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For Researchers &amp; Academics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Conduct </a:t>
            </a: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rigorous studies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 on accident causes and intervention effectiveness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Develop </a:t>
            </a: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context-appropriate solutions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 for African roads and drivers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Share </a:t>
            </a: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knowledge openly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Publish findings, collaborate across institutions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Mentor </a:t>
            </a: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next generation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Train students in road safety research and innovation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Advise </a:t>
            </a: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policymakers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Translate research into actionable recommendations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For Private Sector &amp; Technology Companies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Develop </a:t>
            </a: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affordable solutions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Not all innovations need to be expensive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Test in </a:t>
            </a: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real-world conditions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Pilot programmes before full rollout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Ensure </a:t>
            </a: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data security &amp; privacy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Build trust with users and regulators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Support </a:t>
            </a: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local capacity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Train local technicians and engineers</a:t>
            </a:r>
          </a:p>
          <a:p>
            <a:pPr algn="l" marL="342900" indent="-342900">
              <a:spcAft>
                <a:spcPts val="96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Contribute to </a:t>
            </a:r>
            <a:r>
              <a:rPr lang="en-US" sz="2400" b="1" i="0" dirty="0">
                <a:solidFill>
                  <a:srgbClr val="1E2933"/>
                </a:solidFill>
                <a:latin typeface="Calibri"/>
                <a:cs typeface="Calibri"/>
              </a:rPr>
              <a:t>public good</a:t>
            </a:r>
            <a:r>
              <a:rPr lang="en-US" sz="2400" b="0" i="0" dirty="0">
                <a:solidFill>
                  <a:srgbClr val="1E2933"/>
                </a:solidFill>
                <a:latin typeface="Calibri"/>
                <a:cs typeface="Calibri"/>
              </a:rPr>
              <a:t>: Corporate social responsibility in road safety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For Communities &amp; Drivers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Follow traffic rules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Speed limits, seatbelts, no impaired driving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Report hazards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Use apps, hotlines to report dangerous roads or drivers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Advocate for change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Demand safe roads, hold authorities accountable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Support education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Encourage safe driving in families and workplaces</a:t>
            </a:r>
          </a:p>
          <a:p>
            <a:pPr algn="l" marL="342900" indent="-342900">
              <a:spcAft>
                <a:spcPts val="88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200" b="1" i="0" dirty="0">
                <a:solidFill>
                  <a:srgbClr val="1E2933"/>
                </a:solidFill>
                <a:latin typeface="Calibri"/>
                <a:cs typeface="Calibri"/>
              </a:rPr>
              <a:t>Lead by example</a:t>
            </a:r>
            <a:r>
              <a:rPr lang="en-US" sz="2200" b="0" i="0" dirty="0">
                <a:solidFill>
                  <a:srgbClr val="1E2933"/>
                </a:solidFill>
                <a:latin typeface="Calibri"/>
                <a:cs typeface="Calibri"/>
              </a:rPr>
              <a:t>: Be a role model for safe, responsible driving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Our Vision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2286000"/>
            <a:ext cx="3332480" cy="12801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2400"/>
              </a:spcAft>
              <a:buNone/>
            </a:pPr>
            <a:r>
              <a:rPr lang="en-US" sz="6000" b="1" i="0" dirty="0">
                <a:solidFill>
                  <a:srgbClr val="E74C3C"/>
                </a:solidFill>
                <a:latin typeface="Calibri"/>
                <a:cs typeface="Calibri"/>
              </a:rPr>
              <a:t>50%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3703320"/>
            <a:ext cx="333248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2000" b="0" i="0" dirty="0">
                <a:solidFill>
                  <a:srgbClr val="1E2933"/>
                </a:solidFill>
                <a:latin typeface="Calibri"/>
                <a:cs typeface="Calibri"/>
              </a:rPr>
              <a:t>Reduction in road deaths within 5 years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4292600" y="2286000"/>
            <a:ext cx="3332480" cy="12801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2400"/>
              </a:spcAft>
              <a:buNone/>
            </a:pPr>
            <a:r>
              <a:rPr lang="en-US" sz="6000" b="1" i="0" dirty="0">
                <a:solidFill>
                  <a:srgbClr val="E74C3C"/>
                </a:solidFill>
                <a:latin typeface="Calibri"/>
                <a:cs typeface="Calibri"/>
              </a:rPr>
              <a:t>100%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4292600" y="3703320"/>
            <a:ext cx="333248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2000" b="0" i="0" dirty="0">
                <a:solidFill>
                  <a:srgbClr val="1E2933"/>
                </a:solidFill>
                <a:latin typeface="Calibri"/>
                <a:cs typeface="Calibri"/>
              </a:rPr>
              <a:t>Coverage of high-risk zones with safety interventions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899400" y="2286000"/>
            <a:ext cx="3332480" cy="12801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2400"/>
              </a:spcAft>
              <a:buNone/>
            </a:pPr>
            <a:r>
              <a:rPr lang="en-US" sz="6000" b="1" i="0" dirty="0">
                <a:solidFill>
                  <a:srgbClr val="E74C3C"/>
                </a:solidFill>
                <a:latin typeface="Calibri"/>
                <a:cs typeface="Calibri"/>
              </a:rPr>
              <a:t>80%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899400" y="3703320"/>
            <a:ext cx="333248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2000" b="0" i="0" dirty="0">
                <a:solidFill>
                  <a:srgbClr val="1E2933"/>
                </a:solidFill>
                <a:latin typeface="Calibri"/>
                <a:cs typeface="Calibri"/>
              </a:rPr>
              <a:t>Seatbelt &amp; helmet compliance rate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85800" y="1298448"/>
            <a:ext cx="1005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65760"/>
            <a:ext cx="10820400" cy="868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1360"/>
              </a:spcAft>
              <a:buNone/>
            </a:pPr>
            <a:r>
              <a:rPr lang="en-US" sz="3400" b="1" i="0" dirty="0">
                <a:solidFill>
                  <a:srgbClr val="1A3A52"/>
                </a:solidFill>
                <a:latin typeface="Calibri"/>
                <a:cs typeface="Calibri"/>
              </a:rPr>
              <a:t>Key Takeaways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691640"/>
            <a:ext cx="1082040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Road accidents are a </a:t>
            </a: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preventable public health crisis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Solutions require </a:t>
            </a: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integrated approaches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: technology, policy, infrastructure, behaviour change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Innovation &amp; AI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 can amplify human efforts, but not replace them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Collaboration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 across sectors is essential for success</a:t>
            </a:r>
          </a:p>
          <a:p>
            <a:pPr algn="l" marL="342900" indent="-342900">
              <a:spcAft>
                <a:spcPts val="1040"/>
              </a:spcAft>
              <a:buClr>
                <a:srgbClr val="E8821E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E2933"/>
                </a:solidFill>
                <a:latin typeface="Calibri"/>
                <a:cs typeface="Calibri"/>
              </a:rPr>
              <a:t>We have the knowledge and tools</a:t>
            </a:r>
            <a:r>
              <a:rPr lang="en-US" sz="2600" b="0" i="0" dirty="0">
                <a:solidFill>
                  <a:srgbClr val="1E2933"/>
                </a:solidFill>
                <a:latin typeface="Calibri"/>
                <a:cs typeface="Calibri"/>
              </a:rPr>
              <a:t>—now we need the will and commitment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11840" y="6355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5B6B7A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05840" y="1828800"/>
            <a:ext cx="10180320" cy="20116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2160"/>
              </a:spcAft>
              <a:buNone/>
            </a:pPr>
            <a:r>
              <a:rPr lang="en-US" sz="5400" b="1" i="0" dirty="0">
                <a:solidFill>
                  <a:srgbClr val="FFFFFF"/>
                </a:solidFill>
                <a:latin typeface="Calibri"/>
                <a:cs typeface="Calibri"/>
              </a:rPr>
              <a:t>Safe Roads, Safe Lives</a:t>
            </a:r>
          </a:p>
        </p:txBody>
      </p:sp>
      <p:sp>
        <p:nvSpPr>
          <p:cNvPr id="4" name="Shape 4"/>
          <p:cNvSpPr/>
          <p:nvPr/>
        </p:nvSpPr>
        <p:spPr>
          <a:xfrm>
            <a:off x="1005840" y="4069080"/>
            <a:ext cx="10972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1005840" y="4343400"/>
            <a:ext cx="1018032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20"/>
              </a:spcAft>
              <a:buNone/>
            </a:pPr>
            <a:r>
              <a:rPr lang="en-US" sz="1800" b="0" i="0" dirty="0">
                <a:solidFill>
                  <a:srgbClr val="DCE4EE"/>
                </a:solidFill>
                <a:latin typeface="Calibri"/>
                <a:cs typeface="Calibri"/>
              </a:rPr>
              <a:t>Together, we can transform road safety in Nigeria and Africa.</a:t>
            </a:r>
          </a:p>
          <a:p>
            <a:pPr algn="l">
              <a:spcAft>
                <a:spcPts val="720"/>
              </a:spcAft>
              <a:buNone/>
            </a:pPr>
          </a:p>
          <a:p>
            <a:pPr algn="l">
              <a:spcAft>
                <a:spcPts val="720"/>
              </a:spcAft>
              <a:buNone/>
            </a:pPr>
            <a:r>
              <a:rPr lang="en-US" sz="1800" b="0" i="0" dirty="0">
                <a:solidFill>
                  <a:srgbClr val="DCE4EE"/>
                </a:solidFill>
                <a:latin typeface="Calibri"/>
                <a:cs typeface="Calibri"/>
              </a:rPr>
              <a:t>Asst. Corps Commander Mayowa Odewo</a:t>
            </a:r>
          </a:p>
          <a:p>
            <a:pPr algn="l">
              <a:spcAft>
                <a:spcPts val="720"/>
              </a:spcAft>
              <a:buNone/>
            </a:pPr>
            <a:r>
              <a:rPr lang="en-US" sz="1800" b="0" i="0" dirty="0">
                <a:solidFill>
                  <a:srgbClr val="DCE4EE"/>
                </a:solidFill>
                <a:latin typeface="Calibri"/>
                <a:cs typeface="Calibri"/>
              </a:rPr>
              <a:t>TOMRG 2026 | LAUTECH</a:t>
            </a:r>
          </a:p>
          <a:p>
            <a:pPr algn="l">
              <a:spcAft>
                <a:spcPts val="720"/>
              </a:spcAft>
              <a:buNone/>
            </a:pPr>
            <a:r>
              <a:rPr lang="en-US" sz="1800" b="0" i="0" dirty="0">
                <a:solidFill>
                  <a:srgbClr val="DCE4EE"/>
                </a:solidFill>
                <a:latin typeface="Calibri"/>
                <a:cs typeface="Calibri"/>
              </a:rPr>
              <a:t>November 25–26,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ebird">
  <a:themeElements>
    <a:clrScheme name="Freebird">
      <a:dk1>
        <a:solidFill>
          <a:srgbClr val="1E2933"/>
        </a:solidFill>
      </a:dk1>
      <a:lt1>
        <a:solidFill>
          <a:srgbClr val="FFFFFF"/>
        </a:solidFill>
      </a:lt1>
      <a:dk2>
        <a:solidFill>
          <a:srgbClr val="1A3A52"/>
        </a:solidFill>
      </a:dk2>
      <a:lt2>
        <a:solidFill>
          <a:srgbClr val="F3F6FA"/>
        </a:solidFill>
      </a:lt2>
      <a:accent1>
        <a:solidFill>
          <a:srgbClr val="1A3A52"/>
        </a:solidFill>
      </a:accent1>
      <a:accent2>
        <a:solidFill>
          <a:srgbClr val="E74C3C"/>
        </a:solidFill>
      </a:accent2>
      <a:accent3>
        <a:solidFill>
          <a:srgbClr val="2E9E8F"/>
        </a:solidFill>
      </a:accent3>
      <a:accent4>
        <a:solidFill>
          <a:srgbClr val="7A5BC7"/>
        </a:solidFill>
      </a:accent4>
      <a:accent5>
        <a:solidFill>
          <a:srgbClr val="C94F4F"/>
        </a:solidFill>
      </a:accent5>
      <a:accent6>
        <a:solidFill>
          <a:srgbClr val="5B6B7A"/>
        </a:solidFill>
      </a:accent6>
      <a:hlink>
        <a:solidFill>
          <a:srgbClr val="1F6FD1"/>
        </a:solidFill>
      </a:hlink>
      <a:folHlink>
        <a:solidFill>
          <a:srgbClr val="7A5BC7"/>
        </a:solidFill>
      </a:folHlink>
    </a:clrScheme>
    <a:fontScheme name="Freebird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Freebi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Freebird Notes">
  <a:themeElements>
    <a:clrScheme name="Freebird">
      <a:dk1>
        <a:solidFill>
          <a:srgbClr val="1E2933"/>
        </a:solidFill>
      </a:dk1>
      <a:lt1>
        <a:solidFill>
          <a:srgbClr val="FFFFFF"/>
        </a:solidFill>
      </a:lt1>
      <a:dk2>
        <a:solidFill>
          <a:srgbClr val="1A3A52"/>
        </a:solidFill>
      </a:dk2>
      <a:lt2>
        <a:solidFill>
          <a:srgbClr val="F3F6FA"/>
        </a:solidFill>
      </a:lt2>
      <a:accent1>
        <a:solidFill>
          <a:srgbClr val="1A3A52"/>
        </a:solidFill>
      </a:accent1>
      <a:accent2>
        <a:solidFill>
          <a:srgbClr val="E74C3C"/>
        </a:solidFill>
      </a:accent2>
      <a:accent3>
        <a:solidFill>
          <a:srgbClr val="2E9E8F"/>
        </a:solidFill>
      </a:accent3>
      <a:accent4>
        <a:solidFill>
          <a:srgbClr val="7A5BC7"/>
        </a:solidFill>
      </a:accent4>
      <a:accent5>
        <a:solidFill>
          <a:srgbClr val="C94F4F"/>
        </a:solidFill>
      </a:accent5>
      <a:accent6>
        <a:solidFill>
          <a:srgbClr val="5B6B7A"/>
        </a:solidFill>
      </a:accent6>
      <a:hlink>
        <a:solidFill>
          <a:srgbClr val="1F6FD1"/>
        </a:solidFill>
      </a:hlink>
      <a:folHlink>
        <a:solidFill>
          <a:srgbClr val="7A5BC7"/>
        </a:solidFill>
      </a:folHlink>
    </a:clrScheme>
    <a:fontScheme name="Freebird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Freebi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Freebird AI</Application>
  <Slides>29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Safe Roads, Safe Lives: Innovation in Traffic Management and Accident Prevention</dc:title>
  <dc:creator>Freebird AI</dc:creator>
  <dcterms:created xsi:type="dcterms:W3CDTF">2026-10-08T12:00:51Z</dcterms:created>
  <dcterms:modified xsi:type="dcterms:W3CDTF">2026-10-08T12:00:51Z</dcterms:modified>
</cp:coreProperties>
</file>